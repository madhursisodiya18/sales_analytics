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6D33DB-C25C-40BB-BC93-ADD788813536}" v="6" dt="2026-05-10T11:53:02.7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5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Orders by Product Category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D81B6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2A6-4030-8A81-4C439A929BC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2A6-4030-8A81-4C439A929BC7}"/>
              </c:ext>
            </c:extLst>
          </c:dPt>
          <c:dPt>
            <c:idx val="2"/>
            <c:invertIfNegative val="0"/>
            <c:bubble3D val="0"/>
            <c:spPr>
              <a:solidFill>
                <a:srgbClr val="E91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2A6-4030-8A81-4C439A929BC7}"/>
              </c:ext>
            </c:extLst>
          </c:dPt>
          <c:dPt>
            <c:idx val="3"/>
            <c:invertIfNegative val="0"/>
            <c:bubble3D val="0"/>
            <c:spPr>
              <a:solidFill>
                <a:srgbClr val="F0629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2A6-4030-8A81-4C439A929BC7}"/>
              </c:ext>
            </c:extLst>
          </c:dPt>
          <c:dPt>
            <c:idx val="4"/>
            <c:invertIfNegative val="0"/>
            <c:bubble3D val="0"/>
            <c:spPr>
              <a:solidFill>
                <a:srgbClr val="F48F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2A6-4030-8A81-4C439A929BC7}"/>
              </c:ext>
            </c:extLst>
          </c:dPt>
          <c:dPt>
            <c:idx val="5"/>
            <c:invertIfNegative val="0"/>
            <c:bubble3D val="0"/>
            <c:spPr>
              <a:solidFill>
                <a:srgbClr val="F8BBD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2A6-4030-8A81-4C439A929BC7}"/>
              </c:ext>
            </c:extLst>
          </c:dPt>
          <c:dPt>
            <c:idx val="6"/>
            <c:invertIfNegative val="0"/>
            <c:bubble3D val="0"/>
            <c:spPr>
              <a:solidFill>
                <a:srgbClr val="CE93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2A6-4030-8A81-4C439A929BC7}"/>
              </c:ext>
            </c:extLst>
          </c:dPt>
          <c:dPt>
            <c:idx val="7"/>
            <c:invertIfNegative val="0"/>
            <c:bubble3D val="0"/>
            <c:spPr>
              <a:solidFill>
                <a:srgbClr val="90CA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2A6-4030-8A81-4C439A929BC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E2E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Beverages</c:v>
                </c:pt>
                <c:pt idx="1">
                  <c:v>Dairy Products</c:v>
                </c:pt>
                <c:pt idx="2">
                  <c:v>Confections</c:v>
                </c:pt>
                <c:pt idx="3">
                  <c:v>Seafood</c:v>
                </c:pt>
                <c:pt idx="4">
                  <c:v>Condiments</c:v>
                </c:pt>
                <c:pt idx="5">
                  <c:v>Grains/Cereals</c:v>
                </c:pt>
                <c:pt idx="6">
                  <c:v>Meat/Poultry</c:v>
                </c:pt>
                <c:pt idx="7">
                  <c:v>Produce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354</c:v>
                </c:pt>
                <c:pt idx="1">
                  <c:v>303</c:v>
                </c:pt>
                <c:pt idx="2">
                  <c:v>295</c:v>
                </c:pt>
                <c:pt idx="3">
                  <c:v>291</c:v>
                </c:pt>
                <c:pt idx="4">
                  <c:v>193</c:v>
                </c:pt>
                <c:pt idx="5">
                  <c:v>182</c:v>
                </c:pt>
                <c:pt idx="6">
                  <c:v>161</c:v>
                </c:pt>
                <c:pt idx="7">
                  <c:v>129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2A6-4030-8A81-4C439A929B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2E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Revenue by Country ($K)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D81B6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E2E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USA</c:v>
                </c:pt>
                <c:pt idx="1">
                  <c:v>Germany</c:v>
                </c:pt>
                <c:pt idx="2">
                  <c:v>Austria</c:v>
                </c:pt>
                <c:pt idx="3">
                  <c:v>Brazil</c:v>
                </c:pt>
                <c:pt idx="4">
                  <c:v>France</c:v>
                </c:pt>
                <c:pt idx="5">
                  <c:v>UK</c:v>
                </c:pt>
                <c:pt idx="6">
                  <c:v>Venezuela</c:v>
                </c:pt>
                <c:pt idx="7">
                  <c:v>Sweden</c:v>
                </c:pt>
                <c:pt idx="8">
                  <c:v>Canada</c:v>
                </c:pt>
                <c:pt idx="9">
                  <c:v>Ireland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245.6</c:v>
                </c:pt>
                <c:pt idx="1">
                  <c:v>230.3</c:v>
                </c:pt>
                <c:pt idx="2">
                  <c:v>128</c:v>
                </c:pt>
                <c:pt idx="3">
                  <c:v>106.9</c:v>
                </c:pt>
                <c:pt idx="4">
                  <c:v>81.400000000000006</c:v>
                </c:pt>
                <c:pt idx="5">
                  <c:v>59</c:v>
                </c:pt>
                <c:pt idx="6">
                  <c:v>56.8</c:v>
                </c:pt>
                <c:pt idx="7">
                  <c:v>54.5</c:v>
                </c:pt>
                <c:pt idx="8">
                  <c:v>50.2</c:v>
                </c:pt>
                <c:pt idx="9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57-4B97-A2E7-3024F26B63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2E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Quarterly Revenue Growth ($K) — 242% Volume Growth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D81B6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E2E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Q3'94</c:v>
                </c:pt>
                <c:pt idx="1">
                  <c:v>Q4'94</c:v>
                </c:pt>
                <c:pt idx="2">
                  <c:v>Q1'95</c:v>
                </c:pt>
                <c:pt idx="3">
                  <c:v>Q2'95</c:v>
                </c:pt>
                <c:pt idx="4">
                  <c:v>Q3'95</c:v>
                </c:pt>
                <c:pt idx="5">
                  <c:v>Q4'95</c:v>
                </c:pt>
                <c:pt idx="6">
                  <c:v>Q1'96</c:v>
                </c:pt>
                <c:pt idx="7">
                  <c:v>Q2'96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53.3</c:v>
                </c:pt>
                <c:pt idx="1">
                  <c:v>109.5</c:v>
                </c:pt>
                <c:pt idx="2">
                  <c:v>145</c:v>
                </c:pt>
                <c:pt idx="3">
                  <c:v>145.4</c:v>
                </c:pt>
                <c:pt idx="4">
                  <c:v>134.69999999999999</c:v>
                </c:pt>
                <c:pt idx="5">
                  <c:v>165.9</c:v>
                </c:pt>
                <c:pt idx="6">
                  <c:v>265</c:v>
                </c:pt>
                <c:pt idx="7">
                  <c:v>247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2B-4029-99C0-6C7216A7D8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2E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4981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Northwind Traders Sales Analytics Project. This end-to-end project covers 830 orders, 91 customers, 77 products across 21 countries from 1994–1996. Tools used: Excel for EDA, SQL for 15 structured questions, Power BI + DAX for interactive dashboards. Total revenue analyzed: $1.27M with 114.2% YoY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headline: $1.27M total revenue with 114.2% YoY growth. Beverage concentration in single SKU is top risk. Customer loyalty at 96.7% repeat rate is exceptional. Discount program of $88.67K needs evaluation against volume gains.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Northwind had no analytics infrastructure. This project built it end-to-end: data cleaning, 15 structured SQL questions using MECE, a star schema data model, 6 DAX measures, and 6 interactive Power BI dashboards.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Northwind dataset spans Aug 1994 to Jun 1996. All 77 products have at least one sale — no dead inventory. Data cleaning focused on derived column creation, NULL handling, and RFM-based customer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MECE ensures every business question is covered without overlap. 5 dimensions: Customer, Product, Time, Employee, Operations — each with 3 questions mapped to specific Power BI pages. This structure makes the analysis reproducible and board-ready.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Q1 reveals a Pareto pattern: top 20% of customers generate 70%+ of revenue. Q2 geographic analysis shows Austria with 2 customers outperforms Mexico with 5. USA and Germany together = nearly half of all revenue. DACH region key-account risk is a priority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RFM clustering is the most actionable customer analysis. Recommendation: launch a tiered loyalty program — white-glove account management for Platinum, volume discounts for Gold, upsell campaigns for Silver. Bronze customers need acquisition cost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analysis reveals single-SKU dependency risk. Côte de Blaye at $263.50/unit drives over half of Beverages revenue. Meat/Poultry has the best revenue efficiency. Stock-out risk in 5 products requires immediate supply chain action. Discount-to-volume correlation needs controlled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analysis confirms compounding revenue growth across all 8 quarters. Seasonal peaks in Q4/Q1 are consistent — supply chain and staffing should be pre-scaled. Freight anomaly detection flagged 34 orders averaging $450 freight each — primarily for top-tier customers shipping internationally.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employees generating $1.27M = $141K per employee, which is outstanding productivity. Federal Shipping is the clear best-value shipper. Supplier diversity across 16 countries provides resilience. 5 at-risk products need immediate reorder.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 schema centers on Order_Details fact table with 6 dimension tables. All relationships are 1-to-many from dimension to fact. Date table created with CALENDAR() DAX function and marked as date table to enable SAMEPERIODLASTYEAR time intelligence. All 6 DAX measures use DIVIDE with BLANK()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Sales Dashboard is the executive landing page. 7 navigation tabs at the bottom link all pages. KPI cards use DAX measures and respond to all cross-filtering. The Executive Summary adds the Discount Impact waterfall which is a key financial analysis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Analysis shows distribution of order values, product pricing, and discount by category. Customer Insights shows repeat vs one-time, geographic distribution, and order trends. Inventory Health flags low-stock and stock-out products. Order Fulfillment tracks shipper performance and freight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demonstrates full-stack analytics: from raw data ingestion and SQL analysis through Power BI modeling and interactive dashboards. Future scope includes DirectQuery for live data, automated alerts, and ML-based demand forecasting. The MECE framework ensures the analysis is boardroom-ready and exhaustive.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A5A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SALES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11480" y="17830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ANALYTICS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11480" y="254203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" y="3364992"/>
            <a:ext cx="3474720" cy="36576"/>
          </a:xfrm>
          <a:prstGeom prst="rect">
            <a:avLst/>
          </a:prstGeom>
          <a:solidFill>
            <a:srgbClr val="F2D4DF"/>
          </a:solidFill>
          <a:ln w="12700">
            <a:solidFill>
              <a:srgbClr val="F2D4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4747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Northwind Traders  |  1994–1996  |  Power BI Analytics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4005072"/>
            <a:ext cx="1005840" cy="548640"/>
          </a:xfrm>
          <a:prstGeom prst="rect">
            <a:avLst/>
          </a:prstGeom>
          <a:solidFill>
            <a:srgbClr val="9A5A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00507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📊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27048" y="4005072"/>
            <a:ext cx="1005840" cy="548640"/>
          </a:xfrm>
          <a:prstGeom prst="rect">
            <a:avLst/>
          </a:prstGeom>
          <a:solidFill>
            <a:srgbClr val="9A5A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7048" y="400507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🗄️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42616" y="4005072"/>
            <a:ext cx="1005840" cy="548640"/>
          </a:xfrm>
          <a:prstGeom prst="rect">
            <a:avLst/>
          </a:prstGeom>
          <a:solidFill>
            <a:srgbClr val="9A5A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42616" y="400507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📈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 BI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58184" y="4005072"/>
            <a:ext cx="1005840" cy="548640"/>
          </a:xfrm>
          <a:prstGeom prst="rect">
            <a:avLst/>
          </a:prstGeom>
          <a:solidFill>
            <a:srgbClr val="9A5A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58184" y="400507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🧮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47548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BF0F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Data-Driven Business Insights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118872"/>
            <a:ext cx="6949440" cy="662940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pic>
        <p:nvPicPr>
          <p:cNvPr id="18" name="Image 0" descr="/home/claude/slide_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66360" y="164592"/>
            <a:ext cx="6858000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606040" cy="86868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32104"/>
            <a:ext cx="260604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$1.27M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263701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777240"/>
            <a:ext cx="2606040" cy="86868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0" y="832104"/>
            <a:ext cx="260604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830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108960" y="1263701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737360"/>
            <a:ext cx="2606040" cy="86868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1792224"/>
            <a:ext cx="260604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$1.53K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2223821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Avg Order Value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1737360"/>
            <a:ext cx="2606040" cy="86868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08960" y="1792224"/>
            <a:ext cx="260604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114.2%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108960" y="2223821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YoY Growth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816352"/>
            <a:ext cx="1371600" cy="219456"/>
          </a:xfrm>
          <a:prstGeom prst="rect">
            <a:avLst/>
          </a:prstGeom>
          <a:solidFill>
            <a:srgbClr val="9A5A72"/>
          </a:solidFill>
          <a:ln w="12700">
            <a:solidFill>
              <a:srgbClr val="9A5A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8163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OVERVIEW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" y="3090672"/>
            <a:ext cx="5394960" cy="3520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grew 114.2% YoY — from $53K (Q3 1994) to $247K (Q2 1996)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Beverages leads all categories at $267K (21.2%) — 'Côte de Blaye' alone = $141K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3 customers (QUICK-Stop, Ernst Handel, Save-a-lot) = 25%+ of total revenue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96.7% repeat customer rate — only 3 one-time buyers across 2 years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95.5% on-time delivery — operational excellence is a competitive strength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$88.67K discounted — discount program needs ROI review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806440" y="704088"/>
            <a:ext cx="6263640" cy="598932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pic>
        <p:nvPicPr>
          <p:cNvPr id="21" name="Image 0" descr="/home/claude/slide_executiv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52160" y="749808"/>
            <a:ext cx="6172200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&amp; OBJECTIVE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1371600" cy="219456"/>
          </a:xfrm>
          <a:prstGeom prst="rect">
            <a:avLst/>
          </a:prstGeom>
          <a:solidFill>
            <a:srgbClr val="9A5A72"/>
          </a:solidFill>
          <a:ln w="12700">
            <a:solidFill>
              <a:srgbClr val="9A5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132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CONTEXT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5486400" cy="29260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8755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⚡ Business Challenges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353312"/>
            <a:ext cx="5486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2D4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353312"/>
            <a:ext cx="64008" cy="621792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38988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centralized reporting — data scattered across Excel, no single source of truth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066544"/>
            <a:ext cx="5486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2D4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066544"/>
            <a:ext cx="64008" cy="621792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1031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analysis: slow, error-prone, no repeatable process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779776"/>
            <a:ext cx="5486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2D4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779776"/>
            <a:ext cx="64008" cy="621792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customer segmentation — all buyers treated equally, no loyalty strategy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493008"/>
            <a:ext cx="5486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2D4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493008"/>
            <a:ext cx="64008" cy="621792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5295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blind spots — product profitability &amp; discount impact not quantified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206240"/>
            <a:ext cx="5486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2D4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206240"/>
            <a:ext cx="64008" cy="621792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42428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Operational gaps — shipping delays, freight spikes &amp; low-stock risks unmonitored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987552"/>
            <a:ext cx="5943600" cy="29260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98755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🎯 Analytical Approach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35040" y="1389888"/>
            <a:ext cx="5852160" cy="74980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  <a:effectLst>
            <a:outerShdw blurRad="50800" dist="127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80760" y="14081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80760" y="1645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Raw Data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080760" y="1901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Northwind DB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641080" y="214884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728A"/>
                </a:solidFill>
              </a:rPr>
              <a:t>▼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2304288"/>
            <a:ext cx="5852160" cy="749808"/>
          </a:xfrm>
          <a:prstGeom prst="rect">
            <a:avLst/>
          </a:prstGeom>
          <a:solidFill>
            <a:srgbClr val="9A5A72"/>
          </a:solidFill>
          <a:ln w="12700">
            <a:solidFill>
              <a:srgbClr val="9A5A72"/>
            </a:solidFill>
            <a:prstDash val="solid"/>
          </a:ln>
          <a:effectLst>
            <a:outerShdw blurRad="50800" dist="127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80760" y="23225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80760" y="2560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 &amp; Transform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80760" y="28163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 Query + EDA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41080" y="306324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728A"/>
                </a:solidFill>
              </a:rPr>
              <a:t>▼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3218688"/>
            <a:ext cx="5852160" cy="749808"/>
          </a:xfrm>
          <a:prstGeom prst="rect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  <a:effectLst>
            <a:outerShdw blurRad="50800" dist="127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080760" y="32369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80760" y="3474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EDA Questions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080760" y="3730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MECE Framework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641080" y="397764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728A"/>
                </a:solidFill>
              </a:rPr>
              <a:t>▼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35040" y="4133088"/>
            <a:ext cx="585216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080760" y="41513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080760" y="4389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 Schema + DAX + 15 Power BI Questions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080760" y="46451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Model + KPIs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641080" y="489204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728A"/>
                </a:solidFill>
              </a:rPr>
              <a:t>▼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35040" y="5047488"/>
            <a:ext cx="5852160" cy="7498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blurRad="50800" dist="127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080760" y="50657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080760" y="5303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Power BI Dashboards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080760" y="55595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Interactive Reports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OVERVIEW &amp; DATA CLEANING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1371600" cy="219456"/>
          </a:xfrm>
          <a:prstGeom prst="rect">
            <a:avLst/>
          </a:prstGeom>
          <a:solidFill>
            <a:srgbClr val="9A5A72"/>
          </a:solidFill>
          <a:ln w="12700">
            <a:solidFill>
              <a:srgbClr val="9A5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132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PREP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1737360" cy="804672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1498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830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4721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40280" y="960120"/>
            <a:ext cx="1737360" cy="804672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101498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40280" y="14721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60520" y="960120"/>
            <a:ext cx="1737360" cy="804672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101498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60520" y="14721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920240"/>
            <a:ext cx="1737360" cy="804672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97510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0040" y="24323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40280" y="1920240"/>
            <a:ext cx="1737360" cy="804672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40280" y="197510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240280" y="24323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Suppliers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60520" y="1920240"/>
            <a:ext cx="1737360" cy="804672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197510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160520" y="24323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944368"/>
            <a:ext cx="5669280" cy="29260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94436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🔧 Key Data Cleaning Steps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0040" y="3291840"/>
            <a:ext cx="5669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D4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32841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TotalSales = UnitPrice × Quantity × (1 − Discount) — derived column validated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913632"/>
            <a:ext cx="5669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D4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95020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Data types fixed: OrderDate → DATE | UnitPrice, Freight → DECIMAL(10,2)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4535424"/>
            <a:ext cx="5669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D4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57200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375 ShipRegion NULLs — accepted (not all countries use regions)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5157216"/>
            <a:ext cx="5669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D4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5193792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Stock flags: 22 Low Stock (&lt;10 units) | 5 Stock-Out Risk (0 units)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5779008"/>
            <a:ext cx="5669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D4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5815584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RFM tiers assigned: Platinum / Gold / Silver / Bronze by spend &amp; frequency</a:t>
            </a:r>
            <a:endParaRPr lang="en-US" sz="110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6172200" y="914400"/>
          <a:ext cx="5760720" cy="57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MECE FRAMEWORK — 15 BUSINESS QUESTIONS STRUCTURED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Mutually Exclusive, Collectively Exhaustive | 5 Analytical Dimensions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024128"/>
            <a:ext cx="338328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B5728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024128"/>
            <a:ext cx="3383280" cy="38404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241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👤 CUSTOMER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1444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Q1 · Avg orders &amp; high-value segment identification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1847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Q2 · Geographic patterns by country &amp; city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22494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Q3 · RFM clustering — Platinum / Gold / Silver tiers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670048"/>
            <a:ext cx="1188720" cy="219456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6700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Slides 6–7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686800" y="1024128"/>
            <a:ext cx="338328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8E2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0" y="1024128"/>
            <a:ext cx="3383280" cy="384048"/>
          </a:xfrm>
          <a:prstGeom prst="rect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0" y="10241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📦 PRODUCT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0" y="1444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Q4 · Category &amp; top-product revenue breakdown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778240" y="1847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Q5 · Location–category purchase correlation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778240" y="22494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Q10 · Pricing tiers, discount impact &amp; stock health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778240" y="2670048"/>
            <a:ext cx="1188720" cy="219456"/>
          </a:xfrm>
          <a:prstGeom prst="rect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0" y="26700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8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82880" y="3931920"/>
            <a:ext cx="338328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3931920"/>
            <a:ext cx="338328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931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⏱️ TIME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" y="43525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Q6 · Order frequency &amp; repeat purchase cycles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4754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Q11 · Monthly &amp; seasonal revenue trends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4320" y="51572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Q12 · Revenue anomalies &amp; freight outlier detection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5577840"/>
            <a:ext cx="1188720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55778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9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686800" y="3931920"/>
            <a:ext cx="338328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95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686800" y="3931920"/>
            <a:ext cx="3383280" cy="38404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0" y="3931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👥 EMPLOYEE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778240" y="43525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Q7 · Employee geography &amp; customer assignment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778240" y="4754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Q8 · Hire date patterns &amp; tenure distribution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778240" y="51572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Q9 · Title breakdown &amp; revenue per employee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778240" y="5577840"/>
            <a:ext cx="1188720" cy="21945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78240" y="55778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10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023360" y="7178040"/>
            <a:ext cx="1188720" cy="21945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23360" y="71780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10</a:t>
            </a:r>
            <a:endParaRPr lang="en-US" sz="850" dirty="0"/>
          </a:p>
        </p:txBody>
      </p:sp>
      <p:sp>
        <p:nvSpPr>
          <p:cNvPr id="56" name="Shape 38">
            <a:extLst>
              <a:ext uri="{FF2B5EF4-FFF2-40B4-BE49-F238E27FC236}">
                <a16:creationId xmlns:a16="http://schemas.microsoft.com/office/drawing/2014/main" id="{7B165946-103A-45B0-AD7B-27FE6E0A8C1B}"/>
              </a:ext>
            </a:extLst>
          </p:cNvPr>
          <p:cNvSpPr/>
          <p:nvPr/>
        </p:nvSpPr>
        <p:spPr>
          <a:xfrm>
            <a:off x="4572000" y="4736592"/>
            <a:ext cx="338328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7" name="Shape 39">
            <a:extLst>
              <a:ext uri="{FF2B5EF4-FFF2-40B4-BE49-F238E27FC236}">
                <a16:creationId xmlns:a16="http://schemas.microsoft.com/office/drawing/2014/main" id="{D9555596-FB94-A09C-BAD4-36CA835E95AD}"/>
              </a:ext>
            </a:extLst>
          </p:cNvPr>
          <p:cNvSpPr/>
          <p:nvPr/>
        </p:nvSpPr>
        <p:spPr>
          <a:xfrm>
            <a:off x="4572000" y="4736592"/>
            <a:ext cx="3383280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8" name="Text 40">
            <a:extLst>
              <a:ext uri="{FF2B5EF4-FFF2-40B4-BE49-F238E27FC236}">
                <a16:creationId xmlns:a16="http://schemas.microsoft.com/office/drawing/2014/main" id="{69798EED-BC72-BC50-59EF-CF798269B3FE}"/>
              </a:ext>
            </a:extLst>
          </p:cNvPr>
          <p:cNvSpPr/>
          <p:nvPr/>
        </p:nvSpPr>
        <p:spPr>
          <a:xfrm>
            <a:off x="4663440" y="47365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🚚 OPERATIONS</a:t>
            </a:r>
            <a:endParaRPr lang="en-US" sz="1300" dirty="0"/>
          </a:p>
        </p:txBody>
      </p:sp>
      <p:sp>
        <p:nvSpPr>
          <p:cNvPr id="59" name="Text 41">
            <a:extLst>
              <a:ext uri="{FF2B5EF4-FFF2-40B4-BE49-F238E27FC236}">
                <a16:creationId xmlns:a16="http://schemas.microsoft.com/office/drawing/2014/main" id="{88813ADD-7230-195A-204C-030199574ADB}"/>
              </a:ext>
            </a:extLst>
          </p:cNvPr>
          <p:cNvSpPr/>
          <p:nvPr/>
        </p:nvSpPr>
        <p:spPr>
          <a:xfrm>
            <a:off x="4663440" y="51572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Q13 · Supplier distribution across 16 countries</a:t>
            </a:r>
            <a:endParaRPr lang="en-US" sz="950" dirty="0"/>
          </a:p>
        </p:txBody>
      </p:sp>
      <p:sp>
        <p:nvSpPr>
          <p:cNvPr id="60" name="Text 42">
            <a:extLst>
              <a:ext uri="{FF2B5EF4-FFF2-40B4-BE49-F238E27FC236}">
                <a16:creationId xmlns:a16="http://schemas.microsoft.com/office/drawing/2014/main" id="{150E2D24-A032-E809-5568-9DC4A3209DF4}"/>
              </a:ext>
            </a:extLst>
          </p:cNvPr>
          <p:cNvSpPr/>
          <p:nvPr/>
        </p:nvSpPr>
        <p:spPr>
          <a:xfrm>
            <a:off x="4663440" y="55595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Q14 · Shipper on-time %, freight cost ranking</a:t>
            </a:r>
            <a:endParaRPr lang="en-US" sz="950" dirty="0"/>
          </a:p>
        </p:txBody>
      </p:sp>
      <p:sp>
        <p:nvSpPr>
          <p:cNvPr id="61" name="Text 43">
            <a:extLst>
              <a:ext uri="{FF2B5EF4-FFF2-40B4-BE49-F238E27FC236}">
                <a16:creationId xmlns:a16="http://schemas.microsoft.com/office/drawing/2014/main" id="{93B5DEE9-F007-0C53-68B1-BC0B49D7F83F}"/>
              </a:ext>
            </a:extLst>
          </p:cNvPr>
          <p:cNvSpPr/>
          <p:nvPr/>
        </p:nvSpPr>
        <p:spPr>
          <a:xfrm>
            <a:off x="4663440" y="59618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Q15 · Stock-out risk &amp; inventory health monitoring</a:t>
            </a:r>
            <a:endParaRPr lang="en-US" sz="950" dirty="0"/>
          </a:p>
        </p:txBody>
      </p:sp>
      <p:sp>
        <p:nvSpPr>
          <p:cNvPr id="62" name="Shape 44">
            <a:extLst>
              <a:ext uri="{FF2B5EF4-FFF2-40B4-BE49-F238E27FC236}">
                <a16:creationId xmlns:a16="http://schemas.microsoft.com/office/drawing/2014/main" id="{5C931480-7F14-576F-4F98-D26C25EA9E30}"/>
              </a:ext>
            </a:extLst>
          </p:cNvPr>
          <p:cNvSpPr/>
          <p:nvPr/>
        </p:nvSpPr>
        <p:spPr>
          <a:xfrm>
            <a:off x="4665306" y="6355080"/>
            <a:ext cx="1188720" cy="21945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3" name="Text 45">
            <a:extLst>
              <a:ext uri="{FF2B5EF4-FFF2-40B4-BE49-F238E27FC236}">
                <a16:creationId xmlns:a16="http://schemas.microsoft.com/office/drawing/2014/main" id="{830C3C84-D12B-B08B-43B1-0BC9A8BD2739}"/>
              </a:ext>
            </a:extLst>
          </p:cNvPr>
          <p:cNvSpPr/>
          <p:nvPr/>
        </p:nvSpPr>
        <p:spPr>
          <a:xfrm>
            <a:off x="4665306" y="63550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10</a:t>
            </a:r>
            <a:endParaRPr lang="en-US" sz="850" dirty="0"/>
          </a:p>
        </p:txBody>
      </p:sp>
      <p:sp>
        <p:nvSpPr>
          <p:cNvPr id="64" name="Shape 4">
            <a:extLst>
              <a:ext uri="{FF2B5EF4-FFF2-40B4-BE49-F238E27FC236}">
                <a16:creationId xmlns:a16="http://schemas.microsoft.com/office/drawing/2014/main" id="{38173800-80FE-1FCA-F508-73F9E05B88B0}"/>
              </a:ext>
            </a:extLst>
          </p:cNvPr>
          <p:cNvSpPr/>
          <p:nvPr/>
        </p:nvSpPr>
        <p:spPr>
          <a:xfrm>
            <a:off x="4675881" y="2715768"/>
            <a:ext cx="2743200" cy="1371600"/>
          </a:xfrm>
          <a:prstGeom prst="ellipse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5" name="Text 5">
            <a:extLst>
              <a:ext uri="{FF2B5EF4-FFF2-40B4-BE49-F238E27FC236}">
                <a16:creationId xmlns:a16="http://schemas.microsoft.com/office/drawing/2014/main" id="{5AF80334-9994-59E9-1B93-7E35F8415AE7}"/>
              </a:ext>
            </a:extLst>
          </p:cNvPr>
          <p:cNvSpPr/>
          <p:nvPr/>
        </p:nvSpPr>
        <p:spPr>
          <a:xfrm>
            <a:off x="4675881" y="2715768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Business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(MECE)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 — CUSTOMER ANALYSIS (Q1 · Q2)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2606040" cy="877824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832104"/>
            <a:ext cx="2606040" cy="474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1268821"/>
            <a:ext cx="260604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Customers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777240"/>
            <a:ext cx="2606040" cy="877824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08960" y="832104"/>
            <a:ext cx="2606040" cy="474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108960" y="1268821"/>
            <a:ext cx="260604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 Customers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764792"/>
            <a:ext cx="2606040" cy="877824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1819656"/>
            <a:ext cx="2606040" cy="474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96.7%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0040" y="2256373"/>
            <a:ext cx="260604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Repeat 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1764792"/>
            <a:ext cx="2606040" cy="877824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08960" y="1819656"/>
            <a:ext cx="2606040" cy="474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9.33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108960" y="2256373"/>
            <a:ext cx="260604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Avg Orders/Customer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788920"/>
            <a:ext cx="5577840" cy="29260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Q1 · High-Value Customer Segments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0040" y="3127248"/>
            <a:ext cx="5577840" cy="1664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9.33 avg orders/customer | 17 High-Value Repeat (≥15 orders, ≥$10K spend)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QUICK-Stop (Germany): $110,277 | Ernst Handel (Austria): $104,875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Save-a-lot Markets (USA): $104,362 — top 3 drive 25%+ of all revenue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Platinum-tier customers average $92K spend each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892040"/>
            <a:ext cx="5577840" cy="29260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892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Q2 · Geographic Revenue Patterns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0040" y="5212080"/>
            <a:ext cx="557784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USA + Germany: 24 customers, ~46% of total revenue ($476K combined)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Austria: 2 customers → $128K (3rd highest) — 20× revenue per customer vs Mexico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 countries served; Scandinavia &amp; Benelux are under-penetrated growth markets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89320" y="704088"/>
            <a:ext cx="6080760" cy="598932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pic>
        <p:nvPicPr>
          <p:cNvPr id="26" name="Image 0" descr="/home/claude/slide_custom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749808"/>
            <a:ext cx="5989320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 — CUSTOMER CLUSTERING &amp; RFM SEGMENTATION (Q3)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55778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2D4DF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41248"/>
            <a:ext cx="5577840" cy="329184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412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🏆 PLATINUM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00400" y="84124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customers | Avg $92K | ≥28 orders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2070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572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Preferred: Beverages / Dairy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49961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e.g. QUICK-Stop, Ernst Handel, Save-a-lot, Rattlesnake Canyon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258568"/>
            <a:ext cx="55778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2D4DF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58568"/>
            <a:ext cx="5577840" cy="329184"/>
          </a:xfrm>
          <a:prstGeom prst="rect">
            <a:avLst/>
          </a:prstGeom>
          <a:solidFill>
            <a:srgbClr val="C0872A"/>
          </a:solidFill>
          <a:ln w="12700">
            <a:solidFill>
              <a:srgbClr val="C08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585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🥇 GOLD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00400" y="225856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customers | Avg $27K | ≥10 orders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6243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Preferred: Beverages / Seafood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291693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e.g. Hungry Owl, Hanari Carnes, Königlich Essen, Folk och fä HB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675888"/>
            <a:ext cx="55778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2D4DF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675888"/>
            <a:ext cx="5577840" cy="329184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675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🥈 SILVER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200400" y="367588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 customers | Avg $10K | 5–9 orders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40416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7D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Preferred: Dairy / Condiments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33425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e.g. Richter Supermarkt, Simons bistro, Seven Seas Imports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5093208"/>
            <a:ext cx="55778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2D4DF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5093208"/>
            <a:ext cx="5577840" cy="329184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50932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🥉 BRONZE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200400" y="50932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49 customers | Avg $2.4K | &lt;5 orders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54589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890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Preferred: Mixed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575157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e.g. Alfreds Futterkiste, Centro comercial, Galería del gastro.</a:t>
            </a:r>
            <a:endParaRPr lang="en-US" sz="105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6035040" y="804672"/>
          <a:ext cx="59436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Shape 29"/>
          <p:cNvSpPr/>
          <p:nvPr/>
        </p:nvSpPr>
        <p:spPr>
          <a:xfrm>
            <a:off x="6035040" y="4773168"/>
            <a:ext cx="5943600" cy="1810512"/>
          </a:xfrm>
          <a:prstGeom prst="rect">
            <a:avLst/>
          </a:prstGeom>
          <a:solidFill>
            <a:srgbClr val="FBF0F4"/>
          </a:solidFill>
          <a:ln w="19050">
            <a:solidFill>
              <a:srgbClr val="B5728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72200" y="48280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72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💡 Key Insight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172200" y="5166360"/>
            <a:ext cx="56692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Platinum (4 customers = 4.5% of base) generate ~29% of total revenue. Gold (14 customers) = ~30%. Combined, just 18 customers (20%) drive nearly 60% of $1.27M revenue — classic Pareto distribution. Bronze (49 customers) contribute only 10% each despite being 55% of the base.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 — PRODUCT &amp; REVENUE ANALYSIS (Q4 · Q10)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2788920" cy="86868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832104"/>
            <a:ext cx="27889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Beverages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1263701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#1 Category — $267K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10128" y="777240"/>
            <a:ext cx="2788920" cy="86868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0128" y="832104"/>
            <a:ext cx="27889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Côte de Blaye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10128" y="1263701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#1 SKU — $141K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0216" y="777240"/>
            <a:ext cx="2788920" cy="86868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0216" y="832104"/>
            <a:ext cx="27889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Meat/Poultry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00216" y="1263701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Highest $/Unit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290304" y="777240"/>
            <a:ext cx="2788920" cy="86868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90304" y="832104"/>
            <a:ext cx="27889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Products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290304" y="1263701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Stock-Out Risk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801368"/>
            <a:ext cx="5577840" cy="29260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8013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 Findings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0040" y="2148840"/>
            <a:ext cx="5577840" cy="2926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Beverages = 21.2% of total revenue; Côte de Blaye alone = $141K (52.8% of Beverages)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Meat/Poultry: only 4,199 units sold yet generates $163K — highest revenue-per-unit category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Bottom 2 categories (Produce + Grains/Cereals) = 15.5% combined — bundling opportunity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 value distribution: 28% below $500 | only 1.2% exceed $10K (luxury segment)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Discount impact: Beverages discounted most ($18.7K) with no proportional sales lift shown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 low-stock products flagged; 5 at zero units — immediate reorder action required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89320" y="704088"/>
            <a:ext cx="6080760" cy="598932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pic>
        <p:nvPicPr>
          <p:cNvPr id="23" name="Image 0" descr="/home/claude/slide_revenu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749808"/>
            <a:ext cx="5989320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 — TIME &amp; SEASONAL ANALYSIS (Q6 · Q11 · Q12)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 / 15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804672"/>
          <a:ext cx="55778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4133088"/>
            <a:ext cx="5577840" cy="29260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4133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Time Insights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20040" y="4480560"/>
            <a:ext cx="5577840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Q1 1996 ($265K) alone &gt; entire combined Q3+Q4 1994 ($163K) — exponential growth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Q4 and Q1 consistently peak — holiday procurement drives demand surge every year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 volume: 47 orders (Q3'94) → 161 orders (Q2'96) — 242% growth in 2 years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34 freight outlier orders detected (&gt;$311.80); max single freight = $1,007 (QUICK-Stop)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June 1996 data incomplete (11 orders only — partial month, excluded from trend analysis)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89320" y="704088"/>
            <a:ext cx="6080760" cy="598932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pic>
        <p:nvPicPr>
          <p:cNvPr id="12" name="Image 0" descr="/home/claude/slide_executiv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35040" y="749808"/>
            <a:ext cx="5989320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 — TEAM PERFORMANCE &amp; OPERATIONS (Q7–Q9 · Q13–Q15)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5577840" cy="29260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412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👥 Team Performance (Q7 · Q8 · Q9)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2606040" cy="84124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261872"/>
            <a:ext cx="2606040" cy="45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0040" y="1678107"/>
            <a:ext cx="2606040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Employees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1207008"/>
            <a:ext cx="2606040" cy="84124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08960" y="1261872"/>
            <a:ext cx="2606040" cy="45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$140.6K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108960" y="1678107"/>
            <a:ext cx="2606040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/ Employee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167128"/>
            <a:ext cx="2606040" cy="84124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2221992"/>
            <a:ext cx="2606040" cy="45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92.2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0040" y="2638227"/>
            <a:ext cx="2606040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Orders / Employee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08960" y="2167128"/>
            <a:ext cx="2606040" cy="84124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08960" y="2221992"/>
            <a:ext cx="2606040" cy="45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108960" y="2638227"/>
            <a:ext cx="2606040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Contribution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3127248"/>
            <a:ext cx="557784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Margaret Peacock #1 ($230K) | Janet Leverling #2 ($200K) | Nancy Davolio #3 ($190K)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9 employees have 32–34 years tenure — stable, senior sales team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UK: 4 employees | USA: 5 (Kirkland, Redmond, Seattle, Tacoma, Portland)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Sales Reps, 1 Manager, 1 Inside Sales Coordinator, 1 VP Sales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864608"/>
            <a:ext cx="5577840" cy="29260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864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🚚 Operations (Q13 · Q14 · Q15)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0040" y="5193792"/>
            <a:ext cx="5577840" cy="1444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Federal Shipping: 96.5% on-time (BEST) | Speedy Express 95.2% | United Package 95.1%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 suppliers across 16 countries — globally diversified supply chain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Avg shipping duration: 8.5 days | Max: 37 days — significant delivery variance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89320" y="704088"/>
            <a:ext cx="6080760" cy="294436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pic>
        <p:nvPicPr>
          <p:cNvPr id="26" name="Image 0" descr="/home/claude/slide_te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749808"/>
            <a:ext cx="5989320" cy="2852928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5989320" y="3657600"/>
            <a:ext cx="6080760" cy="303580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pic>
        <p:nvPicPr>
          <p:cNvPr id="28" name="Image 1" descr="/home/claude/slide_fulfillmen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35040" y="3703320"/>
            <a:ext cx="598932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 BI DATA MODEL &amp; DAX MEASURES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+ DAX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5577840" cy="29260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412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⭐ Star Schema — Center: Order_Details (Fact)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2831" y="2809634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📊 ORDERS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(FACT) · 830 rows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1376" y="4176382"/>
            <a:ext cx="214884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9A5A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4144658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👥 CUSTOMERS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91 rows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4442" y="5294376"/>
            <a:ext cx="214884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9A5A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730" y="5290084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📦 ORDERS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830 rows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30138" y="1831226"/>
            <a:ext cx="214884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9A5A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38" y="1810512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🛒 PRODUCTS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77 rows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11880" y="4150256"/>
            <a:ext cx="214884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9A5A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4176382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🏷️ CATEGORIES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rows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9184" y="1774496"/>
            <a:ext cx="214884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9A5A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376" y="1755648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👤 EMPLOYEES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 rows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11880" y="5266944"/>
            <a:ext cx="214884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9A5A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75304" y="5266944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🚚 SHIPPERS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rows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1376" y="611304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relationships: 1 → Many | Bi-directional filtering: OFF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841248"/>
            <a:ext cx="5943600" cy="29260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84124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🧮 Core DAX Measures &amp; Results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35040" y="1234440"/>
            <a:ext cx="5943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2D4DF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44768" y="12710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572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464040" y="1271016"/>
            <a:ext cx="2423160" cy="256032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64040" y="12710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$1.27M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44768" y="1563624"/>
            <a:ext cx="5742432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1563624"/>
            <a:ext cx="5650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SUMX(Order_Details, [UnitPrice]*[Quantity]*(1-[Discount]))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35040" y="2130552"/>
            <a:ext cx="5943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2D4DF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44768" y="21671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572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PY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464040" y="2167128"/>
            <a:ext cx="2423160" cy="256032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64040" y="21671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$0.59M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144768" y="2459736"/>
            <a:ext cx="5742432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9632" y="2459736"/>
            <a:ext cx="5650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CALCULATE([Total Revenue], SAMEPERIODLASTYEAR(Date[Date]))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035040" y="3026664"/>
            <a:ext cx="5943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2D4DF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44768" y="3063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572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YoY %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464040" y="3063240"/>
            <a:ext cx="2423160" cy="256032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64040" y="30632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114.2%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144768" y="3355848"/>
            <a:ext cx="5742432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9632" y="3355848"/>
            <a:ext cx="5650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DIVIDE([Total Revenue]-[Revenue PY], [Revenue PY], BLANK())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035040" y="3922776"/>
            <a:ext cx="5943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2D4DF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144768" y="3959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572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Avg Order Value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464040" y="3959352"/>
            <a:ext cx="2423160" cy="256032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64040" y="39593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$1.53K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144768" y="4251960"/>
            <a:ext cx="5742432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99632" y="4251960"/>
            <a:ext cx="5650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DIVIDE([Total Revenue], DISTINCTCOUNT(Orders[OrderID]))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035040" y="4818888"/>
            <a:ext cx="5943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2D4DF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144768" y="48554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572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Repeat Customer %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9464040" y="4855464"/>
            <a:ext cx="2423160" cy="256032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64040" y="48554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96.7%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144768" y="5148072"/>
            <a:ext cx="5742432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99632" y="5148072"/>
            <a:ext cx="5650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DIVIDE(COUNTROWS(FILTER(Custs,[Orders]&gt;1)),[Total Customers])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035040" y="5715000"/>
            <a:ext cx="5943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2D4DF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144768" y="57515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572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On-Time %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9464040" y="5751576"/>
            <a:ext cx="2423160" cy="256032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464040" y="57515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95.5%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144768" y="6044184"/>
            <a:ext cx="5742432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99632" y="6044184"/>
            <a:ext cx="5650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DIVIDE(COUNTROWS(FILTER(Orders,[ShippedDate]&lt;=[RequiredDate])),COUNTROWS(Orders))</a:t>
            </a:r>
            <a:endParaRPr lang="en-US" sz="850" dirty="0"/>
          </a:p>
        </p:txBody>
      </p:sp>
      <p:sp>
        <p:nvSpPr>
          <p:cNvPr id="63" name="Shape 7">
            <a:extLst>
              <a:ext uri="{FF2B5EF4-FFF2-40B4-BE49-F238E27FC236}">
                <a16:creationId xmlns:a16="http://schemas.microsoft.com/office/drawing/2014/main" id="{8E30152F-686D-2831-F436-B347DEC20AE7}"/>
              </a:ext>
            </a:extLst>
          </p:cNvPr>
          <p:cNvSpPr/>
          <p:nvPr/>
        </p:nvSpPr>
        <p:spPr>
          <a:xfrm>
            <a:off x="3300456" y="2743200"/>
            <a:ext cx="2468880" cy="109728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4" name="Text 8">
            <a:extLst>
              <a:ext uri="{FF2B5EF4-FFF2-40B4-BE49-F238E27FC236}">
                <a16:creationId xmlns:a16="http://schemas.microsoft.com/office/drawing/2014/main" id="{05CD3476-7F39-EC43-8032-9C9287FE268F}"/>
              </a:ext>
            </a:extLst>
          </p:cNvPr>
          <p:cNvSpPr/>
          <p:nvPr/>
        </p:nvSpPr>
        <p:spPr>
          <a:xfrm>
            <a:off x="3310098" y="2724166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📊 ORDER DETAILS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(FACT) · 2,155 rows</a:t>
            </a:r>
            <a:endParaRPr lang="en-US" sz="1000" dirty="0"/>
          </a:p>
        </p:txBody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31D0C8D4-0072-C2A6-8EE0-613E1D1B297B}"/>
              </a:ext>
            </a:extLst>
          </p:cNvPr>
          <p:cNvSpPr/>
          <p:nvPr/>
        </p:nvSpPr>
        <p:spPr>
          <a:xfrm>
            <a:off x="332730" y="2743200"/>
            <a:ext cx="2468880" cy="109728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9" name="Text 8">
            <a:extLst>
              <a:ext uri="{FF2B5EF4-FFF2-40B4-BE49-F238E27FC236}">
                <a16:creationId xmlns:a16="http://schemas.microsoft.com/office/drawing/2014/main" id="{6B231756-4292-B846-B653-8509765BE369}"/>
              </a:ext>
            </a:extLst>
          </p:cNvPr>
          <p:cNvSpPr/>
          <p:nvPr/>
        </p:nvSpPr>
        <p:spPr>
          <a:xfrm>
            <a:off x="442473" y="2734429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📊 ORDERS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(FACT) · 830 rows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WALKTHROUGH — SALES OVERVIEW &amp; 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5577840" cy="29260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412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 1: Northwind Sales Dashboard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5577840" cy="20299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$1.27M Revenue | 830 Orders | $1.53K AOV | 77 Products | 91 Customers | 9 Employees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Trend vs Last Year — dual-line chart showing YoY growth acceleration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 order trend by quarter — from 47 (Q3 1994) to 161 (Q2 1996)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Freight by Shipper donut | Employee Performance scatter plot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7 Countries bar chart | Sales Volume by Category pie chart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3364992"/>
            <a:ext cx="5577840" cy="29260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3649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 2: Executive Summary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" y="3712464"/>
            <a:ext cx="5577840" cy="2487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KPI cards: Revenue, Orders, AOV, Revenue YoY% (114.2%) — all interactive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Discount Impact waterfall: $1.4M gross → $1.3M net → $88.67K discounted → $2.5M total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 volume + quantity trend by quarter with dual Y-axis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 order trend by quarter — consistent upward trajectory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Filters: CategoryName | Year | Date — cross-page interactive slicers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704088"/>
            <a:ext cx="6080760" cy="294436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pic>
        <p:nvPicPr>
          <p:cNvPr id="14" name="Image 0" descr="/home/claude/slide_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749808"/>
            <a:ext cx="5989320" cy="285292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989320" y="3657600"/>
            <a:ext cx="6080760" cy="303580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pic>
        <p:nvPicPr>
          <p:cNvPr id="16" name="Image 1" descr="/home/claude/slide_executiv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35040" y="3703320"/>
            <a:ext cx="598932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WALKTHROUGH — REVENUE · CUSTOMER · INVENTORY · FULFILLMENT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5760720" cy="32004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0467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Analysis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078992"/>
            <a:ext cx="5852160" cy="257860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pic>
        <p:nvPicPr>
          <p:cNvPr id="10" name="Image 0" descr="/home/claude/slide_revenu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24712"/>
            <a:ext cx="5760720" cy="24871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17920" y="804672"/>
            <a:ext cx="5760720" cy="32004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80467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 Insights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1078992"/>
            <a:ext cx="5852160" cy="257860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pic>
        <p:nvPicPr>
          <p:cNvPr id="14" name="Image 1" descr="/home/claude/slide_custome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7920" y="1124712"/>
            <a:ext cx="5760720" cy="248716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74320" y="3730752"/>
            <a:ext cx="5760720" cy="32004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4320" y="373075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Inventory Health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28600" y="4005072"/>
            <a:ext cx="5852160" cy="257860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pic>
        <p:nvPicPr>
          <p:cNvPr id="18" name="Image 2" descr="/home/claude/slide_inventory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74320" y="4050792"/>
            <a:ext cx="5760720" cy="248716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17920" y="3730752"/>
            <a:ext cx="5760720" cy="32004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217920" y="373075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 Fulfillment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172200" y="4005072"/>
            <a:ext cx="5852160" cy="2578608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pic>
        <p:nvPicPr>
          <p:cNvPr id="22" name="Image 3" descr="/home/claude/slide_fulfillment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17920" y="4050792"/>
            <a:ext cx="5760720" cy="24871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9A5A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B5728A"/>
          </a:solidFill>
          <a:ln w="12700">
            <a:solidFill>
              <a:srgbClr val="B572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INSIGHTS &amp;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3657600" cy="36576"/>
          </a:xfrm>
          <a:prstGeom prst="rect">
            <a:avLst/>
          </a:prstGeom>
          <a:solidFill>
            <a:srgbClr val="F2D4DF"/>
          </a:solidFill>
          <a:ln w="12700">
            <a:solidFill>
              <a:srgbClr val="F2D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664208"/>
            <a:ext cx="5349240" cy="731520"/>
          </a:xfrm>
          <a:prstGeom prst="rect">
            <a:avLst/>
          </a:prstGeom>
          <a:solidFill>
            <a:srgbClr val="9A5A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70078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💰  Revenue Concentration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197510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3 customers = 25%+ revenue. Côte de Blaye SKU = 11.2% of ALL revenue. Diversification is urgent priority.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468880"/>
            <a:ext cx="5349240" cy="731520"/>
          </a:xfrm>
          <a:prstGeom prst="rect">
            <a:avLst/>
          </a:prstGeom>
          <a:solidFill>
            <a:srgbClr val="9A5A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0545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📈  114.2% YoY Growth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7797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Q1 1996 ($265K) &gt; entire 1994 revenue ($163K). Momentum is exceptional — scale infrastructure now.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3273552"/>
            <a:ext cx="5349240" cy="731520"/>
          </a:xfrm>
          <a:prstGeom prst="rect">
            <a:avLst/>
          </a:prstGeom>
          <a:solidFill>
            <a:srgbClr val="9A5A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3101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👑  96.7% Repeat Rate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35844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World-class retention. Only 3 one-time buyers. Monetize loyalty via tiered pricing and white-glove service.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4078224"/>
            <a:ext cx="5349240" cy="731520"/>
          </a:xfrm>
          <a:prstGeom prst="rect">
            <a:avLst/>
          </a:prstGeom>
          <a:solidFill>
            <a:srgbClr val="9A5A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1148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🌍  DACH Region ROI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" y="4389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Austria: 2 customers → $128K. Mexico: 5 customers → $24K. Geographic ROI is wildly uneven — focus DACH.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882896"/>
            <a:ext cx="5349240" cy="731520"/>
          </a:xfrm>
          <a:prstGeom prst="rect">
            <a:avLst/>
          </a:prstGeom>
          <a:solidFill>
            <a:srgbClr val="9A5A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9194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🚚  Operational Strength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1480" y="51937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95.5% on-time delivery. Federal Shipping = best value shipper. Operational edge is a marketable differentiator.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5687568"/>
            <a:ext cx="5349240" cy="731520"/>
          </a:xfrm>
          <a:prstGeom prst="rect">
            <a:avLst/>
          </a:prstGeom>
          <a:solidFill>
            <a:srgbClr val="9A5A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57241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⚠️  Discount Review Needed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59984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$88.67K discounted with no measurable volume lift. High discount = margin erosion. Run controlled experiments.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89320" y="3200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SUMMARY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89320" y="804672"/>
            <a:ext cx="6035040" cy="438912"/>
          </a:xfrm>
          <a:prstGeom prst="rect">
            <a:avLst/>
          </a:prstGeom>
          <a:solidFill>
            <a:srgbClr val="9A5A72"/>
          </a:solidFill>
          <a:ln w="6350">
            <a:solidFill>
              <a:srgbClr val="A860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822960"/>
            <a:ext cx="5833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✅  15 business questions answered across 5 MECE dimensions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9320" y="1307592"/>
            <a:ext cx="6035040" cy="438912"/>
          </a:xfrm>
          <a:prstGeom prst="rect">
            <a:avLst/>
          </a:prstGeom>
          <a:solidFill>
            <a:srgbClr val="9A5A72"/>
          </a:solidFill>
          <a:ln w="6350">
            <a:solidFill>
              <a:srgbClr val="A860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325880"/>
            <a:ext cx="5833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✅  $1.27M revenue analyzed | 114.2% YoY growth confirmed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89320" y="1810512"/>
            <a:ext cx="6035040" cy="438912"/>
          </a:xfrm>
          <a:prstGeom prst="rect">
            <a:avLst/>
          </a:prstGeom>
          <a:solidFill>
            <a:srgbClr val="9A5A72"/>
          </a:solidFill>
          <a:ln w="6350">
            <a:solidFill>
              <a:srgbClr val="A860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1828800"/>
            <a:ext cx="5833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✅  6 interactive Power BI dashboard pages delivered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89320" y="2313432"/>
            <a:ext cx="6035040" cy="438912"/>
          </a:xfrm>
          <a:prstGeom prst="rect">
            <a:avLst/>
          </a:prstGeom>
          <a:solidFill>
            <a:srgbClr val="9A5A72"/>
          </a:solidFill>
          <a:ln w="6350">
            <a:solidFill>
              <a:srgbClr val="A860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2331720"/>
            <a:ext cx="5833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✅  Star schema + 6 core DAX measures powering all KPIs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989320" y="2816352"/>
            <a:ext cx="6035040" cy="438912"/>
          </a:xfrm>
          <a:prstGeom prst="rect">
            <a:avLst/>
          </a:prstGeom>
          <a:solidFill>
            <a:srgbClr val="9A5A72"/>
          </a:solidFill>
          <a:ln w="6350">
            <a:solidFill>
              <a:srgbClr val="A860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2834640"/>
            <a:ext cx="5833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✅  Actionable insights: Customer, Product, Time &amp; Operations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989320" y="34015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989320" y="3858768"/>
            <a:ext cx="228600" cy="228600"/>
          </a:xfrm>
          <a:prstGeom prst="ellipse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383133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data pipeline via SQL Server DirectQuery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989320" y="4517136"/>
            <a:ext cx="228600" cy="228600"/>
          </a:xfrm>
          <a:prstGeom prst="ellipse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44897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Automated alerts for stock-out &amp; late delivery thresholds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989320" y="5175504"/>
            <a:ext cx="228600" cy="228600"/>
          </a:xfrm>
          <a:prstGeom prst="ellipse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514807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AI-driven demand forecasting with ML regression models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989320" y="5833872"/>
            <a:ext cx="228600" cy="228600"/>
          </a:xfrm>
          <a:prstGeom prst="ellipse">
            <a:avLst/>
          </a:prstGeom>
          <a:solidFill>
            <a:srgbClr val="40C4FF"/>
          </a:solidFill>
          <a:ln w="12700">
            <a:solidFill>
              <a:srgbClr val="40C4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5806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 churn prediction using RFM + behavioral signals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989320" y="6473952"/>
            <a:ext cx="6035040" cy="292608"/>
          </a:xfrm>
          <a:prstGeom prst="rect">
            <a:avLst/>
          </a:prstGeom>
          <a:solidFill>
            <a:srgbClr val="9A5A72"/>
          </a:solidFill>
          <a:ln w="12700">
            <a:solidFill>
              <a:srgbClr val="9A5A7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89320" y="647395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2D4D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Tools: Excel  |  SQL (PostgreSQL)  |  Power BI  |  DAX  |  Northwind Traders 1994–1996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2625</Words>
  <Application>Microsoft Office PowerPoint</Application>
  <PresentationFormat>Widescreen</PresentationFormat>
  <Paragraphs>317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Madhur Sisodiya</cp:lastModifiedBy>
  <cp:revision>6</cp:revision>
  <dcterms:created xsi:type="dcterms:W3CDTF">2026-05-09T13:47:34Z</dcterms:created>
  <dcterms:modified xsi:type="dcterms:W3CDTF">2026-05-10T12:16:32Z</dcterms:modified>
</cp:coreProperties>
</file>